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9"/>
  </p:notesMasterIdLst>
  <p:sldIdLst>
    <p:sldId id="256" r:id="rId3"/>
    <p:sldId id="284" r:id="rId4"/>
    <p:sldId id="261" r:id="rId5"/>
    <p:sldId id="272" r:id="rId6"/>
    <p:sldId id="267" r:id="rId7"/>
    <p:sldId id="283" r:id="rId8"/>
    <p:sldId id="269" r:id="rId9"/>
    <p:sldId id="271" r:id="rId10"/>
    <p:sldId id="285" r:id="rId11"/>
    <p:sldId id="257" r:id="rId12"/>
    <p:sldId id="258" r:id="rId13"/>
    <p:sldId id="286" r:id="rId14"/>
    <p:sldId id="289" r:id="rId15"/>
    <p:sldId id="287" r:id="rId16"/>
    <p:sldId id="288" r:id="rId17"/>
    <p:sldId id="28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713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4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1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30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4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5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1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9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2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7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9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7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f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e7bf2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87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9149" y="1166825"/>
            <a:ext cx="7222757" cy="300512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7100"/>
              </a:lnSpc>
            </a:pPr>
            <a:r>
              <a:rPr lang="en-US" sz="6750" b="1" kern="0" spc="-405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PENYUSUNAN</a:t>
            </a:r>
            <a:br>
              <a:rPr lang="en-US" sz="6750" b="1" kern="0" spc="-405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6750" b="1" kern="0" spc="-405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RENCANA KERJA</a:t>
            </a:r>
            <a:br>
              <a:rPr lang="en-US" sz="6750" b="1" kern="0" spc="-405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6750" b="1" kern="0" spc="-405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TAHUNAN (RKT)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624764" y="4171949"/>
            <a:ext cx="3109911" cy="6491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556"/>
              </a:lnSpc>
              <a:spcBef>
                <a:spcPts val="628"/>
              </a:spcBef>
            </a:pPr>
            <a:r>
              <a:rPr lang="en-US" sz="2800" b="1" kern="0" spc="-36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</a:t>
            </a:r>
            <a:r>
              <a:rPr lang="id-ID" sz="2800" b="1" kern="0" spc="-36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WK MARGASARI</a:t>
            </a:r>
            <a:endParaRPr lang="en-US" sz="2800" b="1" dirty="0"/>
          </a:p>
        </p:txBody>
      </p:sp>
      <p:sp>
        <p:nvSpPr>
          <p:cNvPr id="5" name="Shape 2"/>
          <p:cNvSpPr/>
          <p:nvPr/>
        </p:nvSpPr>
        <p:spPr>
          <a:xfrm>
            <a:off x="142875" y="0"/>
            <a:ext cx="3810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6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2874" y="0"/>
            <a:ext cx="4067175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3439" y="5691175"/>
            <a:ext cx="3638550" cy="2297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811"/>
              </a:lnSpc>
              <a:spcBef>
                <a:spcPts val="755"/>
              </a:spcBef>
            </a:pPr>
            <a:r>
              <a:rPr lang="id-ID" sz="2000" kern="0" spc="-26" dirty="0">
                <a:solidFill>
                  <a:schemeClr val="bg1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Margasari, 9 September </a:t>
            </a:r>
            <a:r>
              <a:rPr lang="en-US" sz="2000" kern="0" spc="-26" dirty="0">
                <a:solidFill>
                  <a:schemeClr val="bg1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2026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E3714-DECE-4DAE-2E5D-2726D65C7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3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8647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4320"/>
              </a:lnSpc>
            </a:pPr>
            <a:r>
              <a:rPr lang="en-US" sz="4400" b="1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Hakikat RKT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76250" y="1035695"/>
            <a:ext cx="11525250" cy="29750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343"/>
              </a:lnSpc>
              <a:spcBef>
                <a:spcPts val="914"/>
              </a:spcBef>
            </a:pPr>
            <a:r>
              <a:rPr lang="en-US" sz="2000" kern="0" dirty="0" err="1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Instrumen</a:t>
            </a:r>
            <a:r>
              <a:rPr lang="id-ID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 </a:t>
            </a:r>
            <a:r>
              <a:rPr lang="en-US" sz="2000" kern="0" dirty="0" err="1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Peningkatan</a:t>
            </a: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 Mutu Sekolah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8219" y="2119313"/>
            <a:ext cx="1428750" cy="1428750"/>
          </a:xfrm>
          <a:prstGeom prst="ellipse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pic>
        <p:nvPicPr>
          <p:cNvPr id="5" name="Image 0" descr="18d106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214" y="2532307"/>
            <a:ext cx="60960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856" y="3639294"/>
            <a:ext cx="2855476" cy="526554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074"/>
              </a:lnSpc>
            </a:pPr>
            <a:r>
              <a:rPr lang="en-US" sz="2000" b="1" kern="0" dirty="0">
                <a:solidFill>
                  <a:srgbClr val="FFFF0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Berpedoman pada Visi &amp;</a:t>
            </a:r>
            <a:br>
              <a:rPr lang="en-US" sz="2000" b="1" kern="0" dirty="0">
                <a:solidFill>
                  <a:srgbClr val="FFFF0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000" b="1" kern="0" dirty="0">
                <a:solidFill>
                  <a:srgbClr val="FFFF0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Misi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325234" y="4246364"/>
            <a:ext cx="2754719" cy="1081683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130"/>
              </a:lnSpc>
              <a:spcBef>
                <a:spcPts val="622"/>
              </a:spcBef>
            </a:pP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Perencanaan kegiatan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pendidikan harus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selaras dengan tujuan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organisasi.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917156" y="2119313"/>
            <a:ext cx="1428750" cy="1428750"/>
          </a:xfrm>
          <a:prstGeom prst="ellipse">
            <a:avLst/>
          </a:prstGeom>
          <a:noFill/>
          <a:ln w="50800">
            <a:solidFill>
              <a:srgbClr val="2D8EB4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pic>
        <p:nvPicPr>
          <p:cNvPr id="9" name="Image 1" descr="-6abda9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570" y="2503010"/>
            <a:ext cx="495300" cy="647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14534" y="3639294"/>
            <a:ext cx="2433995" cy="26327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074"/>
              </a:lnSpc>
            </a:pPr>
            <a:r>
              <a:rPr lang="en-US" sz="2000" b="1" kern="0" dirty="0">
                <a:solidFill>
                  <a:srgbClr val="FFFF0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Berbasis Evaluasi Diri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3381345" y="3983087"/>
            <a:ext cx="2500372" cy="1081683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130"/>
              </a:lnSpc>
              <a:spcBef>
                <a:spcPts val="622"/>
              </a:spcBef>
            </a:pP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Seluruh rencana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disusun berdasarkan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hasil evaluasi yang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objektif.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6846094" y="2119313"/>
            <a:ext cx="1428750" cy="1428750"/>
          </a:xfrm>
          <a:prstGeom prst="ellipse">
            <a:avLst/>
          </a:prstGeom>
          <a:noFill/>
          <a:ln w="50800">
            <a:solidFill>
              <a:srgbClr val="5A7DC5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pic>
        <p:nvPicPr>
          <p:cNvPr id="13" name="Image 2" descr="784b816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5835" y="2590910"/>
            <a:ext cx="561975" cy="4762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50781" y="3639294"/>
            <a:ext cx="2619375" cy="26327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074"/>
              </a:lnSpc>
            </a:pPr>
            <a:r>
              <a:rPr lang="en-US" sz="2000" b="1" kern="0" dirty="0">
                <a:solidFill>
                  <a:srgbClr val="FFFF0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Fokus pada Kualitas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6188348" y="3983087"/>
            <a:ext cx="2744242" cy="1352104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130"/>
              </a:lnSpc>
              <a:spcBef>
                <a:spcPts val="622"/>
              </a:spcBef>
            </a:pP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Diarahkan untuk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meningkatkan kualitas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proses pembelajaran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dan hasil belajar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murid.</a:t>
            </a:r>
            <a:endParaRPr lang="en-US" sz="2800" dirty="0"/>
          </a:p>
        </p:txBody>
      </p:sp>
      <p:sp>
        <p:nvSpPr>
          <p:cNvPr id="16" name="Shape 11"/>
          <p:cNvSpPr/>
          <p:nvPr/>
        </p:nvSpPr>
        <p:spPr>
          <a:xfrm>
            <a:off x="9775031" y="2119313"/>
            <a:ext cx="1428750" cy="1428750"/>
          </a:xfrm>
          <a:prstGeom prst="ellipse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pic>
        <p:nvPicPr>
          <p:cNvPr id="17" name="Image 3" descr="-41994b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3361" y="2498821"/>
            <a:ext cx="457200" cy="6762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79719" y="3639294"/>
            <a:ext cx="2619375" cy="26327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074"/>
              </a:lnSpc>
            </a:pPr>
            <a:r>
              <a:rPr lang="en-US" sz="2000" b="1" kern="0" dirty="0">
                <a:solidFill>
                  <a:srgbClr val="FFFF0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Siklus Berkelanjutan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9117285" y="3983087"/>
            <a:ext cx="2744242" cy="1081683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130"/>
              </a:lnSpc>
              <a:spcBef>
                <a:spcPts val="622"/>
              </a:spcBef>
            </a:pP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Dilakukan secara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terus-menerus sebagai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upaya perbaikan</a:t>
            </a:r>
            <a:b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sistematis.</a:t>
            </a:r>
            <a:endParaRPr lang="en-US" sz="2800" dirty="0"/>
          </a:p>
        </p:txBody>
      </p:sp>
      <p:sp>
        <p:nvSpPr>
          <p:cNvPr id="20" name="Shape 1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111111"/>
          </a:solidFill>
          <a:ln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21" name="Text 15"/>
          <p:cNvSpPr/>
          <p:nvPr/>
        </p:nvSpPr>
        <p:spPr>
          <a:xfrm>
            <a:off x="576263" y="6087369"/>
            <a:ext cx="11039475" cy="526554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1901"/>
              </a:lnSpc>
            </a:pPr>
            <a:r>
              <a:rPr lang="en-US" sz="200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Filosofi Utama: </a:t>
            </a:r>
            <a:endParaRPr lang="id-ID" sz="2000" kern="0" dirty="0">
              <a:solidFill>
                <a:srgbClr val="FFFFFF"/>
              </a:solidFill>
              <a:latin typeface="Satoshi Black" pitchFamily="34" charset="0"/>
              <a:ea typeface="Satoshi Black" pitchFamily="34" charset="-122"/>
              <a:cs typeface="Satoshi Black" pitchFamily="34" charset="-120"/>
            </a:endParaRPr>
          </a:p>
          <a:p>
            <a:pPr algn="ctr" fontAlgn="ctr">
              <a:lnSpc>
                <a:spcPts val="1901"/>
              </a:lnSpc>
            </a:pPr>
            <a:r>
              <a:rPr lang="en-US" sz="200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RKT tidak dimulai dari 'kegiatan apa yang akan dilaksanakan?', melainkan 'apa yang perlu diperbaiki?'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8647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4320"/>
              </a:lnSpc>
            </a:pPr>
            <a:r>
              <a:rPr lang="en-US" sz="3750" b="1" kern="0" dirty="0">
                <a:solidFill>
                  <a:srgbClr val="FFC00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Tiga Klasifikasi Program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76250" y="1035695"/>
            <a:ext cx="11525250" cy="29750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343"/>
              </a:lnSpc>
              <a:spcBef>
                <a:spcPts val="914"/>
              </a:spcBef>
            </a:pP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Kategorisasi program dan kegiatan dalam Rencana Kerja Tahunan (RKT)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76375" y="2246948"/>
            <a:ext cx="1428750" cy="1428750"/>
          </a:xfrm>
          <a:prstGeom prst="ellipse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pic>
        <p:nvPicPr>
          <p:cNvPr id="5" name="Image 0" descr="633e29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746" y="2609629"/>
            <a:ext cx="685800" cy="6572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5763" y="3766929"/>
            <a:ext cx="3609975" cy="26327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074"/>
              </a:lnSpc>
            </a:pPr>
            <a:r>
              <a:rPr lang="en-US" sz="2000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Prioritas Peningkatan Mutu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271939" y="4110722"/>
            <a:ext cx="3837623" cy="811262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130"/>
              </a:lnSpc>
              <a:spcBef>
                <a:spcPts val="622"/>
              </a:spcBef>
            </a:pP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Menjawab masalah atau akar</a:t>
            </a:r>
            <a:b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masalah yang menjadi prioritas</a:t>
            </a:r>
            <a:b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utama sekolah.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381625" y="2246948"/>
            <a:ext cx="1428750" cy="1428750"/>
          </a:xfrm>
          <a:prstGeom prst="ellipse">
            <a:avLst/>
          </a:prstGeom>
          <a:noFill/>
          <a:ln w="50800">
            <a:solidFill>
              <a:srgbClr val="4486BD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pic>
        <p:nvPicPr>
          <p:cNvPr id="9" name="Image 1" descr="-77e5f4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394" y="2609628"/>
            <a:ext cx="704850" cy="704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0550" y="3766929"/>
            <a:ext cx="3390900" cy="26327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074"/>
              </a:lnSpc>
            </a:pPr>
            <a:r>
              <a:rPr lang="en-US" sz="2000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Pemenuhan Standar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298573" y="4110722"/>
            <a:ext cx="3594854" cy="811262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130"/>
              </a:lnSpc>
              <a:spcBef>
                <a:spcPts val="622"/>
              </a:spcBef>
            </a:pP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Memastikan seluruh ketentuan</a:t>
            </a:r>
            <a:b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dan standar pendidikan</a:t>
            </a:r>
            <a:b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terpenuhi dengan baik.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286875" y="2246948"/>
            <a:ext cx="1428750" cy="1428750"/>
          </a:xfrm>
          <a:prstGeom prst="ellipse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pic>
        <p:nvPicPr>
          <p:cNvPr id="13" name="Image 2" descr="-41994b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5205" y="2626367"/>
            <a:ext cx="457200" cy="6762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2950" y="3766929"/>
            <a:ext cx="3276600" cy="26327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074"/>
              </a:lnSpc>
            </a:pPr>
            <a:r>
              <a:rPr lang="en-US" sz="2000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Rutin Operasional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8264828" y="4110722"/>
            <a:ext cx="3472845" cy="1081683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ctr" fontAlgn="ctr">
              <a:lnSpc>
                <a:spcPts val="2130"/>
              </a:lnSpc>
              <a:spcBef>
                <a:spcPts val="622"/>
              </a:spcBef>
            </a:pP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Menjamin keberlangsungan</a:t>
            </a:r>
            <a:b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layanan pendidikan dan</a:t>
            </a:r>
            <a:b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operasional sekolah sehari-</a:t>
            </a:r>
            <a:b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hari.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111111"/>
          </a:solidFill>
          <a:ln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17" name="Text 12"/>
          <p:cNvSpPr/>
          <p:nvPr/>
        </p:nvSpPr>
        <p:spPr>
          <a:xfrm>
            <a:off x="2667000" y="6372523"/>
            <a:ext cx="6858000" cy="241399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1901"/>
              </a:lnSpc>
            </a:pPr>
            <a:r>
              <a:rPr lang="en-US" sz="200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Perlu diingat: Tidak semua kegiatan sekolah adalah program prioritas.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8647"/>
            <a:ext cx="11867704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4320"/>
              </a:lnSpc>
            </a:pPr>
            <a:r>
              <a:rPr lang="en-US" sz="3750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Dasar </a:t>
            </a:r>
            <a:r>
              <a:rPr lang="en-US" sz="3750" kern="0" dirty="0" err="1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Penyusunan</a:t>
            </a:r>
            <a:r>
              <a:rPr lang="en-US" sz="3750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 Pendekatan Berbasis Data (PBD)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76250" y="1035695"/>
            <a:ext cx="11525250" cy="2975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343"/>
              </a:lnSpc>
              <a:spcBef>
                <a:spcPts val="914"/>
              </a:spcBef>
            </a:pP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Landasan strategis dalam penyusunan RKT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4476750" cy="392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stack of document files or a collection of charts and graphs representing data analysis"/>
          <p:cNvPicPr>
            <a:picLocks noChangeAspect="1"/>
          </p:cNvPicPr>
          <p:nvPr/>
        </p:nvPicPr>
        <p:blipFill>
          <a:blip r:embed="rId4"/>
          <a:srcRect t="6170" b="6170"/>
          <a:stretch/>
        </p:blipFill>
        <p:spPr>
          <a:xfrm>
            <a:off x="476250" y="1733550"/>
            <a:ext cx="4476750" cy="3924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1818531"/>
            <a:ext cx="3190875" cy="37686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134"/>
              </a:lnSpc>
              <a:buClr>
                <a:srgbClr val="009FA2"/>
              </a:buClr>
              <a:buSzPct val="120000"/>
              <a:buChar char="•"/>
            </a:pPr>
            <a:r>
              <a:rPr lang="en-US" sz="1852" kern="0" dirty="0">
                <a:solidFill>
                  <a:srgbClr val="FF000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Rapor Pendidikan</a:t>
            </a:r>
            <a:endParaRPr lang="en-US" dirty="0">
              <a:solidFill>
                <a:srgbClr val="FF0000"/>
              </a:solidFill>
            </a:endParaRPr>
          </a:p>
          <a:p>
            <a:pPr marL="254000" lvl="1" indent="0" algn="l" fontAlgn="ctr">
              <a:lnSpc>
                <a:spcPts val="2023"/>
              </a:lnSpc>
              <a:spcBef>
                <a:spcPts val="422"/>
              </a:spcBef>
              <a:buNone/>
            </a:pP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Evaluasi komprehensif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performa akademik dan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non-akademik sekolah.</a:t>
            </a:r>
            <a:endParaRPr lang="en-US" dirty="0"/>
          </a:p>
          <a:p>
            <a:pPr marL="241300" indent="-241300" algn="l" fontAlgn="ctr">
              <a:lnSpc>
                <a:spcPts val="2134"/>
              </a:lnSpc>
              <a:spcBef>
                <a:spcPts val="1852"/>
              </a:spcBef>
              <a:buClr>
                <a:srgbClr val="009FA2"/>
              </a:buClr>
              <a:buSzPct val="120000"/>
              <a:buChar char="•"/>
            </a:pPr>
            <a:r>
              <a:rPr lang="en-US" sz="1852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EDS (Evaluasi Diri Sekolah)</a:t>
            </a:r>
            <a:endParaRPr lang="en-US" dirty="0"/>
          </a:p>
          <a:p>
            <a:pPr marL="254000" lvl="1" indent="0" algn="l" fontAlgn="ctr">
              <a:lnSpc>
                <a:spcPts val="2023"/>
              </a:lnSpc>
              <a:spcBef>
                <a:spcPts val="422"/>
              </a:spcBef>
              <a:buNone/>
            </a:pP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Hasil refleksi internal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mendalam mengenai kondisi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sekolah.</a:t>
            </a:r>
            <a:endParaRPr lang="en-US" dirty="0"/>
          </a:p>
          <a:p>
            <a:pPr marL="241300" indent="-241300" algn="l" fontAlgn="ctr">
              <a:lnSpc>
                <a:spcPts val="2134"/>
              </a:lnSpc>
              <a:spcBef>
                <a:spcPts val="1852"/>
              </a:spcBef>
              <a:buClr>
                <a:srgbClr val="009FA2"/>
              </a:buClr>
              <a:buSzPct val="120000"/>
              <a:buChar char="•"/>
            </a:pPr>
            <a:r>
              <a:rPr lang="en-US" sz="1852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Evaluasi Program</a:t>
            </a:r>
            <a:endParaRPr lang="en-US" dirty="0"/>
          </a:p>
          <a:p>
            <a:pPr marL="254000" lvl="1" indent="0" algn="l" fontAlgn="ctr">
              <a:lnSpc>
                <a:spcPts val="2023"/>
              </a:lnSpc>
              <a:spcBef>
                <a:spcPts val="422"/>
              </a:spcBef>
              <a:buNone/>
            </a:pP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Tinjauan kritis terhadap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kinerja dan capaian tahun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sebelumnya.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715375" y="1818531"/>
            <a:ext cx="3190875" cy="37686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134"/>
              </a:lnSpc>
              <a:buClr>
                <a:srgbClr val="009FA2"/>
              </a:buClr>
              <a:buSzPct val="120000"/>
              <a:buChar char="•"/>
            </a:pPr>
            <a:r>
              <a:rPr lang="en-US" sz="1852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Supervisi</a:t>
            </a:r>
            <a:endParaRPr lang="en-US" dirty="0"/>
          </a:p>
          <a:p>
            <a:pPr marL="254000" lvl="1" indent="0" algn="l" fontAlgn="ctr">
              <a:lnSpc>
                <a:spcPts val="2023"/>
              </a:lnSpc>
              <a:spcBef>
                <a:spcPts val="422"/>
              </a:spcBef>
              <a:buNone/>
            </a:pP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Temuan dari kegiatan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supervisi akademik dan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manajerial.</a:t>
            </a:r>
            <a:endParaRPr lang="en-US" dirty="0"/>
          </a:p>
          <a:p>
            <a:pPr marL="241300" indent="-241300" algn="l" fontAlgn="ctr">
              <a:lnSpc>
                <a:spcPts val="2134"/>
              </a:lnSpc>
              <a:spcBef>
                <a:spcPts val="1852"/>
              </a:spcBef>
              <a:buClr>
                <a:srgbClr val="009FA2"/>
              </a:buClr>
              <a:buSzPct val="120000"/>
              <a:buChar char="•"/>
            </a:pPr>
            <a:r>
              <a:rPr lang="en-US" sz="1852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Dapodik</a:t>
            </a:r>
            <a:endParaRPr lang="en-US" dirty="0"/>
          </a:p>
          <a:p>
            <a:pPr marL="254000" lvl="1" indent="0" algn="l" fontAlgn="ctr">
              <a:lnSpc>
                <a:spcPts val="2023"/>
              </a:lnSpc>
              <a:spcBef>
                <a:spcPts val="422"/>
              </a:spcBef>
              <a:buNone/>
            </a:pP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pokok pendidikan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yang terintegrasi sebagai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basis sistem.</a:t>
            </a:r>
            <a:endParaRPr lang="en-US" dirty="0"/>
          </a:p>
          <a:p>
            <a:pPr marL="241300" indent="-241300" algn="l" fontAlgn="ctr">
              <a:lnSpc>
                <a:spcPts val="2134"/>
              </a:lnSpc>
              <a:spcBef>
                <a:spcPts val="1852"/>
              </a:spcBef>
              <a:buClr>
                <a:srgbClr val="009FA2"/>
              </a:buClr>
              <a:buSzPct val="120000"/>
              <a:buChar char="•"/>
            </a:pPr>
            <a:r>
              <a:rPr lang="en-US" sz="1852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Kondisi Riil &amp; Aspirasi</a:t>
            </a:r>
            <a:endParaRPr lang="en-US" dirty="0"/>
          </a:p>
          <a:p>
            <a:pPr marL="254000" lvl="1" indent="0" algn="l" fontAlgn="ctr">
              <a:lnSpc>
                <a:spcPts val="2023"/>
              </a:lnSpc>
              <a:spcBef>
                <a:spcPts val="422"/>
              </a:spcBef>
              <a:buNone/>
            </a:pP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Pemetaan situasi lapangan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objektif dan masukan dari</a:t>
            </a:r>
            <a:b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425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pemangku kepentingan.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111111"/>
          </a:solidFill>
          <a:ln>
            <a:miter lim="800000"/>
          </a:ln>
        </p:spPr>
      </p:sp>
      <p:sp>
        <p:nvSpPr>
          <p:cNvPr id="9" name="Text 6"/>
          <p:cNvSpPr/>
          <p:nvPr/>
        </p:nvSpPr>
        <p:spPr>
          <a:xfrm>
            <a:off x="1181100" y="6372523"/>
            <a:ext cx="9829800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901"/>
              </a:lnSpc>
            </a:pPr>
            <a:r>
              <a:rPr lang="en-US" sz="165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menjadi landasan utama pengambilan keputusan, bukan sekadar lampiran dokumen administratif.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FE640-36FC-A7DB-9AF6-01EA3849C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" y="14705"/>
            <a:ext cx="12322227" cy="684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81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8647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4320"/>
              </a:lnSpc>
            </a:pPr>
            <a:r>
              <a:rPr lang="en-US" sz="3750" b="1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Menentukan Prioritas RKT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76250" y="1035695"/>
            <a:ext cx="11525250" cy="29750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343"/>
              </a:lnSpc>
              <a:spcBef>
                <a:spcPts val="914"/>
              </a:spcBef>
            </a:pPr>
            <a:r>
              <a:rPr lang="en-US" sz="20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Tidak semua masalah harus menjadi prioritas. Fokus pada yang paling strategis.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2500" y="1715691"/>
            <a:ext cx="3460700" cy="3966716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marL="241300" indent="-241300" algn="l" fontAlgn="ctr">
              <a:lnSpc>
                <a:spcPts val="2246"/>
              </a:lnSpc>
              <a:buClr>
                <a:srgbClr val="009FA2"/>
              </a:buClr>
              <a:buSzPct val="120000"/>
              <a:buChar char="•"/>
            </a:pPr>
            <a:r>
              <a:rPr lang="en-US" sz="1950" b="1" kern="0" dirty="0">
                <a:solidFill>
                  <a:srgbClr val="92D05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Hasil Analisis Data</a:t>
            </a:r>
            <a:endParaRPr lang="en-US" b="1" dirty="0">
              <a:solidFill>
                <a:srgbClr val="92D050"/>
              </a:solidFill>
            </a:endParaRPr>
          </a:p>
          <a:p>
            <a:pPr marL="241300" lvl="1" indent="0" algn="l" fontAlgn="ctr">
              <a:lnSpc>
                <a:spcPts val="2130"/>
              </a:lnSpc>
              <a:spcBef>
                <a:spcPts val="444"/>
              </a:spcBef>
              <a:buNone/>
            </a:pP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Keputusan didasarkan pada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objektif sekolah yang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valid.</a:t>
            </a:r>
            <a:endParaRPr lang="en-US" dirty="0"/>
          </a:p>
          <a:p>
            <a:pPr marL="241300" indent="-241300" algn="l" fontAlgn="ctr">
              <a:lnSpc>
                <a:spcPts val="2246"/>
              </a:lnSpc>
              <a:spcBef>
                <a:spcPts val="1950"/>
              </a:spcBef>
              <a:buClr>
                <a:srgbClr val="009FA2"/>
              </a:buClr>
              <a:buSzPct val="120000"/>
              <a:buChar char="•"/>
            </a:pPr>
            <a:r>
              <a:rPr lang="en-US" sz="1950" b="1" kern="0" dirty="0">
                <a:solidFill>
                  <a:srgbClr val="92D05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Tingkat Kebutuhan</a:t>
            </a:r>
            <a:endParaRPr lang="en-US" b="1" dirty="0">
              <a:solidFill>
                <a:srgbClr val="92D050"/>
              </a:solidFill>
            </a:endParaRPr>
          </a:p>
          <a:p>
            <a:pPr marL="241300" lvl="1" indent="0" algn="l" fontAlgn="ctr">
              <a:lnSpc>
                <a:spcPts val="2130"/>
              </a:lnSpc>
              <a:spcBef>
                <a:spcPts val="444"/>
              </a:spcBef>
              <a:buNone/>
            </a:pP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Mengutamakan pemenuhan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kebutuhan yang paling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mendesak.</a:t>
            </a:r>
            <a:endParaRPr lang="en-US" dirty="0"/>
          </a:p>
          <a:p>
            <a:pPr marL="241300" indent="-241300" algn="l" fontAlgn="ctr">
              <a:lnSpc>
                <a:spcPts val="2246"/>
              </a:lnSpc>
              <a:spcBef>
                <a:spcPts val="1950"/>
              </a:spcBef>
              <a:buClr>
                <a:srgbClr val="009FA2"/>
              </a:buClr>
              <a:buSzPct val="120000"/>
              <a:buChar char="•"/>
            </a:pPr>
            <a:r>
              <a:rPr lang="en-US" sz="1950" b="1" kern="0" dirty="0">
                <a:solidFill>
                  <a:srgbClr val="92D05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Akar Masalah</a:t>
            </a:r>
            <a:endParaRPr lang="en-US" b="1" dirty="0">
              <a:solidFill>
                <a:srgbClr val="92D050"/>
              </a:solidFill>
            </a:endParaRPr>
          </a:p>
          <a:p>
            <a:pPr marL="241300" lvl="1" indent="0" algn="l" fontAlgn="ctr">
              <a:lnSpc>
                <a:spcPts val="2130"/>
              </a:lnSpc>
              <a:spcBef>
                <a:spcPts val="444"/>
              </a:spcBef>
              <a:buNone/>
            </a:pP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Menyasar penyebab utama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masalah, bukan sekadar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mengatasi gejala.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08500" y="1715691"/>
            <a:ext cx="3460700" cy="2560290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marL="241300" indent="-241300" algn="l" fontAlgn="ctr">
              <a:lnSpc>
                <a:spcPts val="2246"/>
              </a:lnSpc>
              <a:buClr>
                <a:srgbClr val="009FA2"/>
              </a:buClr>
              <a:buSzPct val="120000"/>
              <a:buChar char="•"/>
            </a:pPr>
            <a:r>
              <a:rPr lang="en-US" sz="1950" b="1" kern="0" dirty="0">
                <a:solidFill>
                  <a:srgbClr val="92D05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Urgensi</a:t>
            </a:r>
            <a:endParaRPr lang="en-US" b="1" dirty="0">
              <a:solidFill>
                <a:srgbClr val="92D050"/>
              </a:solidFill>
            </a:endParaRPr>
          </a:p>
          <a:p>
            <a:pPr marL="241300" lvl="1" indent="0" algn="l" fontAlgn="ctr">
              <a:lnSpc>
                <a:spcPts val="2130"/>
              </a:lnSpc>
              <a:spcBef>
                <a:spcPts val="444"/>
              </a:spcBef>
              <a:buNone/>
            </a:pP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Menilai tingkat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kepentingan untuk segera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diselesaikan.</a:t>
            </a:r>
            <a:endParaRPr lang="en-US" dirty="0"/>
          </a:p>
          <a:p>
            <a:pPr marL="241300" indent="-241300" algn="l" fontAlgn="ctr">
              <a:lnSpc>
                <a:spcPts val="2246"/>
              </a:lnSpc>
              <a:spcBef>
                <a:spcPts val="1950"/>
              </a:spcBef>
              <a:buClr>
                <a:srgbClr val="009FA2"/>
              </a:buClr>
              <a:buSzPct val="120000"/>
              <a:buChar char="•"/>
            </a:pPr>
            <a:r>
              <a:rPr lang="en-US" sz="1950" b="1" kern="0" dirty="0">
                <a:solidFill>
                  <a:srgbClr val="92D05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Dampak terhadap Mutu</a:t>
            </a:r>
            <a:endParaRPr lang="en-US" b="1" dirty="0">
              <a:solidFill>
                <a:srgbClr val="92D050"/>
              </a:solidFill>
            </a:endParaRPr>
          </a:p>
          <a:p>
            <a:pPr marL="241300" lvl="1" indent="0" algn="l" fontAlgn="ctr">
              <a:lnSpc>
                <a:spcPts val="2130"/>
              </a:lnSpc>
              <a:spcBef>
                <a:spcPts val="444"/>
              </a:spcBef>
              <a:buNone/>
            </a:pP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Fokus utama pada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peningkatan kualitas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pembelajaran.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64500" y="1715691"/>
            <a:ext cx="3460700" cy="2830711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marL="241300" indent="-241300" algn="l" fontAlgn="ctr">
              <a:lnSpc>
                <a:spcPts val="2246"/>
              </a:lnSpc>
              <a:buClr>
                <a:srgbClr val="009FA2"/>
              </a:buClr>
              <a:buSzPct val="120000"/>
              <a:buChar char="•"/>
            </a:pPr>
            <a:r>
              <a:rPr lang="en-US" sz="1950" b="1" kern="0" dirty="0">
                <a:solidFill>
                  <a:srgbClr val="92D05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Kemampuan Intervensi</a:t>
            </a:r>
            <a:endParaRPr lang="en-US" b="1" dirty="0">
              <a:solidFill>
                <a:srgbClr val="92D050"/>
              </a:solidFill>
            </a:endParaRPr>
          </a:p>
          <a:p>
            <a:pPr marL="241300" lvl="1" indent="0" algn="l" fontAlgn="ctr">
              <a:lnSpc>
                <a:spcPts val="2130"/>
              </a:lnSpc>
              <a:spcBef>
                <a:spcPts val="444"/>
              </a:spcBef>
              <a:buNone/>
            </a:pP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Mempertimbangkan kapasitas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dan sumber daya yang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dimiliki sekolah.</a:t>
            </a:r>
            <a:endParaRPr lang="en-US" dirty="0"/>
          </a:p>
          <a:p>
            <a:pPr marL="241300" indent="-241300" algn="l" fontAlgn="ctr">
              <a:lnSpc>
                <a:spcPts val="2246"/>
              </a:lnSpc>
              <a:spcBef>
                <a:spcPts val="1950"/>
              </a:spcBef>
              <a:buClr>
                <a:srgbClr val="009FA2"/>
              </a:buClr>
              <a:buSzPct val="120000"/>
              <a:buChar char="•"/>
            </a:pPr>
            <a:r>
              <a:rPr lang="en-US" sz="1950" b="1" kern="0" dirty="0">
                <a:solidFill>
                  <a:srgbClr val="92D05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Ketercapaian</a:t>
            </a:r>
            <a:endParaRPr lang="en-US" b="1" dirty="0">
              <a:solidFill>
                <a:srgbClr val="92D050"/>
              </a:solidFill>
            </a:endParaRPr>
          </a:p>
          <a:p>
            <a:pPr marL="241300" lvl="1" indent="0" algn="l" fontAlgn="ctr">
              <a:lnSpc>
                <a:spcPts val="2130"/>
              </a:lnSpc>
              <a:spcBef>
                <a:spcPts val="444"/>
              </a:spcBef>
              <a:buNone/>
            </a:pP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Memastikan target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realistis untuk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diselesaikan dalam satu</a:t>
            </a:r>
            <a:b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tahun.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111111"/>
          </a:solidFill>
          <a:ln>
            <a:miter lim="800000"/>
          </a:ln>
        </p:spPr>
      </p:sp>
      <p:sp>
        <p:nvSpPr>
          <p:cNvPr id="8" name="Text 6"/>
          <p:cNvSpPr/>
          <p:nvPr/>
        </p:nvSpPr>
        <p:spPr>
          <a:xfrm>
            <a:off x="1566863" y="6372523"/>
            <a:ext cx="9058275" cy="241399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1901"/>
              </a:lnSpc>
            </a:pPr>
            <a:r>
              <a:rPr lang="en-US" sz="165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Prinsip Utama: Fokus pada yang paling strategis. RKT bukan daftar seluruh kebutuhan sekolah.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8647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4320"/>
              </a:lnSpc>
            </a:pPr>
            <a:r>
              <a:rPr lang="en-US" sz="3750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8 SNP dalam RKT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76250" y="1035695"/>
            <a:ext cx="11525250" cy="29750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343"/>
              </a:lnSpc>
              <a:spcBef>
                <a:spcPts val="914"/>
              </a:spcBef>
            </a:pPr>
            <a:r>
              <a:rPr lang="en-US" sz="24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Kerangka Pengelompokan Program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6250" y="1971675"/>
            <a:ext cx="2667000" cy="1676400"/>
          </a:xfrm>
          <a:prstGeom prst="rect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62000" y="2349996"/>
            <a:ext cx="2381250" cy="51345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022"/>
              </a:lnSpc>
            </a:pP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Standar Kompetensi</a:t>
            </a:r>
            <a:b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Lulusan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932361"/>
            <a:ext cx="2381250" cy="4866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1917"/>
              </a:lnSpc>
              <a:spcBef>
                <a:spcPts val="532"/>
              </a:spcBef>
            </a:pP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Fokus pada capaian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lulusan sekolah.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71625" y="173355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6D6F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428750" y="1818382"/>
            <a:ext cx="762000" cy="2961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2333"/>
              </a:lnSpc>
            </a:pPr>
            <a:r>
              <a:rPr lang="en-US" sz="202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1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33750" y="1971675"/>
            <a:ext cx="2667000" cy="1676400"/>
          </a:xfrm>
          <a:prstGeom prst="rect">
            <a:avLst/>
          </a:prstGeom>
          <a:noFill/>
          <a:ln w="50800">
            <a:solidFill>
              <a:srgbClr val="1398AA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619500" y="2349996"/>
            <a:ext cx="2381250" cy="256729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022"/>
              </a:lnSpc>
            </a:pP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Standar Isi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619500" y="2722127"/>
            <a:ext cx="2488406" cy="4866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1917"/>
              </a:lnSpc>
              <a:spcBef>
                <a:spcPts val="532"/>
              </a:spcBef>
            </a:pP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Pengaturan materi dan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kurikulum.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29125" y="173355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6F7C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286250" y="1818382"/>
            <a:ext cx="762000" cy="2961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2333"/>
              </a:lnSpc>
            </a:pPr>
            <a:r>
              <a:rPr lang="en-US" sz="202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2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91250" y="1971675"/>
            <a:ext cx="2667000" cy="1676400"/>
          </a:xfrm>
          <a:prstGeom prst="rect">
            <a:avLst/>
          </a:prstGeom>
          <a:noFill/>
          <a:ln w="50800">
            <a:solidFill>
              <a:srgbClr val="2790B1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477000" y="2349996"/>
            <a:ext cx="2381250" cy="256729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022"/>
              </a:lnSpc>
            </a:pP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Standar Proses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77000" y="2675632"/>
            <a:ext cx="2381250" cy="730002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1917"/>
              </a:lnSpc>
              <a:spcBef>
                <a:spcPts val="532"/>
              </a:spcBef>
            </a:pP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Pelaksanaan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pembelajaran di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kelas.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286625" y="173355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6E87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7143750" y="1818382"/>
            <a:ext cx="762000" cy="2961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2333"/>
              </a:lnSpc>
            </a:pPr>
            <a:r>
              <a:rPr lang="en-US" sz="202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3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048750" y="1971675"/>
            <a:ext cx="2667000" cy="1676400"/>
          </a:xfrm>
          <a:prstGeom prst="rect">
            <a:avLst/>
          </a:prstGeom>
          <a:noFill/>
          <a:ln w="50800">
            <a:solidFill>
              <a:srgbClr val="3A89B9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9334500" y="2349996"/>
            <a:ext cx="2381250" cy="256729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022"/>
              </a:lnSpc>
            </a:pP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Standar Penilaian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34500" y="2675632"/>
            <a:ext cx="2381250" cy="730002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1917"/>
              </a:lnSpc>
              <a:spcBef>
                <a:spcPts val="532"/>
              </a:spcBef>
            </a:pP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Mekanisme dan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evaluasi hasil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belajar.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144125" y="173355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6C92"/>
            </a:solidFill>
            <a:prstDash val="solid"/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10001250" y="1818382"/>
            <a:ext cx="762000" cy="2961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2333"/>
              </a:lnSpc>
            </a:pPr>
            <a:r>
              <a:rPr lang="en-US" sz="202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4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6250" y="3981450"/>
            <a:ext cx="2667000" cy="1676400"/>
          </a:xfrm>
          <a:prstGeom prst="rect">
            <a:avLst/>
          </a:prstGeom>
          <a:noFill/>
          <a:ln w="50800">
            <a:solidFill>
              <a:srgbClr val="4D82C0"/>
            </a:solidFill>
            <a:prstDash val="solid"/>
            <a:miter lim="800000"/>
          </a:ln>
        </p:spPr>
        <p:txBody>
          <a:bodyPr wrap="none"/>
          <a:lstStyle/>
          <a:p>
            <a:endParaRPr lang="en-ID" sz="2000"/>
          </a:p>
        </p:txBody>
      </p:sp>
      <p:sp>
        <p:nvSpPr>
          <p:cNvPr id="25" name="Text 23"/>
          <p:cNvSpPr/>
          <p:nvPr/>
        </p:nvSpPr>
        <p:spPr>
          <a:xfrm>
            <a:off x="762000" y="4359771"/>
            <a:ext cx="2381250" cy="256729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022"/>
              </a:lnSpc>
            </a:pP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Standar PTK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2000" y="4685407"/>
            <a:ext cx="2488406" cy="730002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1917"/>
              </a:lnSpc>
              <a:spcBef>
                <a:spcPts val="532"/>
              </a:spcBef>
            </a:pP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Pengembangan pendidik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dan tenaga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kependidikan.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571625" y="37433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969A1"/>
            </a:solidFill>
            <a:prstDash val="solid"/>
            <a:miter lim="800000"/>
          </a:ln>
        </p:spPr>
        <p:txBody>
          <a:bodyPr wrap="none"/>
          <a:lstStyle/>
          <a:p>
            <a:endParaRPr lang="en-ID" sz="2000"/>
          </a:p>
        </p:txBody>
      </p:sp>
      <p:sp>
        <p:nvSpPr>
          <p:cNvPr id="28" name="Text 26"/>
          <p:cNvSpPr/>
          <p:nvPr/>
        </p:nvSpPr>
        <p:spPr>
          <a:xfrm>
            <a:off x="1428750" y="3828157"/>
            <a:ext cx="762000" cy="2961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2333"/>
              </a:lnSpc>
            </a:pPr>
            <a:r>
              <a:rPr lang="en-US" sz="2400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333750" y="3981450"/>
            <a:ext cx="2667000" cy="1676400"/>
          </a:xfrm>
          <a:prstGeom prst="rect">
            <a:avLst/>
          </a:prstGeom>
          <a:noFill/>
          <a:ln w="50800">
            <a:solidFill>
              <a:srgbClr val="607BC8"/>
            </a:solidFill>
            <a:prstDash val="solid"/>
            <a:miter lim="800000"/>
          </a:ln>
        </p:spPr>
        <p:txBody>
          <a:bodyPr wrap="none"/>
          <a:lstStyle/>
          <a:p>
            <a:endParaRPr lang="en-ID" sz="2000"/>
          </a:p>
        </p:txBody>
      </p:sp>
      <p:sp>
        <p:nvSpPr>
          <p:cNvPr id="30" name="Text 28"/>
          <p:cNvSpPr/>
          <p:nvPr/>
        </p:nvSpPr>
        <p:spPr>
          <a:xfrm>
            <a:off x="3619500" y="4359771"/>
            <a:ext cx="2381250" cy="513457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022"/>
              </a:lnSpc>
            </a:pP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Standar Sarana dan</a:t>
            </a:r>
            <a:b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Prasarana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19500" y="4942136"/>
            <a:ext cx="2488406" cy="4866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1917"/>
              </a:lnSpc>
              <a:spcBef>
                <a:spcPts val="532"/>
              </a:spcBef>
            </a:pP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Pemenuhan fasilitas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pendukung pendidikan.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4429125" y="37433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5EB6"/>
            </a:solidFill>
            <a:prstDash val="solid"/>
            <a:miter lim="800000"/>
          </a:ln>
        </p:spPr>
        <p:txBody>
          <a:bodyPr wrap="none"/>
          <a:lstStyle/>
          <a:p>
            <a:endParaRPr lang="en-ID" sz="2000"/>
          </a:p>
        </p:txBody>
      </p:sp>
      <p:sp>
        <p:nvSpPr>
          <p:cNvPr id="33" name="Text 31"/>
          <p:cNvSpPr/>
          <p:nvPr/>
        </p:nvSpPr>
        <p:spPr>
          <a:xfrm>
            <a:off x="4286250" y="3828157"/>
            <a:ext cx="762000" cy="2961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2333"/>
              </a:lnSpc>
            </a:pPr>
            <a:r>
              <a:rPr lang="en-US" sz="2400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191250" y="3981450"/>
            <a:ext cx="2667000" cy="1676400"/>
          </a:xfrm>
          <a:prstGeom prst="rect">
            <a:avLst/>
          </a:prstGeom>
          <a:noFill/>
          <a:ln w="50800">
            <a:solidFill>
              <a:srgbClr val="7473CF"/>
            </a:solidFill>
            <a:prstDash val="solid"/>
            <a:miter lim="800000"/>
          </a:ln>
        </p:spPr>
        <p:txBody>
          <a:bodyPr wrap="none"/>
          <a:lstStyle/>
          <a:p>
            <a:endParaRPr lang="en-ID" sz="2000"/>
          </a:p>
        </p:txBody>
      </p:sp>
      <p:sp>
        <p:nvSpPr>
          <p:cNvPr id="35" name="Text 33"/>
          <p:cNvSpPr/>
          <p:nvPr/>
        </p:nvSpPr>
        <p:spPr>
          <a:xfrm>
            <a:off x="6477000" y="4359771"/>
            <a:ext cx="2381250" cy="256729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022"/>
              </a:lnSpc>
            </a:pP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Standar Pengelolaan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77000" y="4685407"/>
            <a:ext cx="2381250" cy="730002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1917"/>
              </a:lnSpc>
              <a:spcBef>
                <a:spcPts val="532"/>
              </a:spcBef>
            </a:pP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Manajemen dan tata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kelola organisasi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sekolah.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7286625" y="37433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E4DC2"/>
            </a:solidFill>
            <a:prstDash val="solid"/>
            <a:miter lim="800000"/>
          </a:ln>
        </p:spPr>
        <p:txBody>
          <a:bodyPr wrap="none"/>
          <a:lstStyle/>
          <a:p>
            <a:endParaRPr lang="en-ID" sz="2000"/>
          </a:p>
        </p:txBody>
      </p:sp>
      <p:sp>
        <p:nvSpPr>
          <p:cNvPr id="38" name="Text 36"/>
          <p:cNvSpPr/>
          <p:nvPr/>
        </p:nvSpPr>
        <p:spPr>
          <a:xfrm>
            <a:off x="7143750" y="3828157"/>
            <a:ext cx="762000" cy="2961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2333"/>
              </a:lnSpc>
            </a:pPr>
            <a:r>
              <a:rPr lang="en-US" sz="2400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7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048750" y="3981450"/>
            <a:ext cx="2667000" cy="1676400"/>
          </a:xfrm>
          <a:prstGeom prst="rect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  <p:txBody>
          <a:bodyPr wrap="none"/>
          <a:lstStyle/>
          <a:p>
            <a:endParaRPr lang="en-ID" sz="2000"/>
          </a:p>
        </p:txBody>
      </p:sp>
      <p:sp>
        <p:nvSpPr>
          <p:cNvPr id="40" name="Text 38"/>
          <p:cNvSpPr/>
          <p:nvPr/>
        </p:nvSpPr>
        <p:spPr>
          <a:xfrm>
            <a:off x="9334500" y="4359771"/>
            <a:ext cx="2381250" cy="256729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2022"/>
              </a:lnSpc>
            </a:pPr>
            <a:r>
              <a:rPr lang="en-US" kern="0" dirty="0">
                <a:solidFill>
                  <a:schemeClr val="accent4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Standar Pembiayaan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9334500" y="4685407"/>
            <a:ext cx="2488406" cy="4866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algn="l" fontAlgn="ctr">
              <a:lnSpc>
                <a:spcPts val="1917"/>
              </a:lnSpc>
              <a:spcBef>
                <a:spcPts val="532"/>
              </a:spcBef>
            </a:pP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Pengaturan anggaran</a:t>
            </a:r>
            <a:b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0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dan sumber pendanaan.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0144125" y="37433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44CC"/>
            </a:solidFill>
            <a:prstDash val="solid"/>
            <a:miter lim="800000"/>
          </a:ln>
        </p:spPr>
        <p:txBody>
          <a:bodyPr wrap="none"/>
          <a:lstStyle/>
          <a:p>
            <a:endParaRPr lang="en-ID" sz="2000"/>
          </a:p>
        </p:txBody>
      </p:sp>
      <p:sp>
        <p:nvSpPr>
          <p:cNvPr id="43" name="Text 41"/>
          <p:cNvSpPr/>
          <p:nvPr/>
        </p:nvSpPr>
        <p:spPr>
          <a:xfrm>
            <a:off x="10001250" y="3828157"/>
            <a:ext cx="762000" cy="296168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algn="ctr" fontAlgn="ctr">
              <a:lnSpc>
                <a:spcPts val="2333"/>
              </a:lnSpc>
            </a:pPr>
            <a:r>
              <a:rPr lang="en-US" sz="2400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8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111111"/>
          </a:solidFill>
          <a:ln>
            <a:miter lim="800000"/>
          </a:ln>
        </p:spPr>
        <p:txBody>
          <a:bodyPr wrap="none"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676275" y="6070094"/>
            <a:ext cx="10839450" cy="463599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ctr"/>
          <a:lstStyle/>
          <a:p>
            <a:pPr fontAlgn="ctr">
              <a:lnSpc>
                <a:spcPts val="1901"/>
              </a:lnSpc>
            </a:pPr>
            <a:r>
              <a:rPr lang="en-US" sz="2000" kern="0" dirty="0">
                <a:solidFill>
                  <a:srgbClr val="FFFF00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Catatan Penting: </a:t>
            </a:r>
            <a:endParaRPr lang="id-ID" sz="2000" kern="0" dirty="0">
              <a:solidFill>
                <a:srgbClr val="FFFF00"/>
              </a:solidFill>
              <a:latin typeface="Satoshi Black" pitchFamily="34" charset="0"/>
              <a:ea typeface="Satoshi Black" pitchFamily="34" charset="-122"/>
              <a:cs typeface="Satoshi Black" pitchFamily="34" charset="-120"/>
            </a:endParaRPr>
          </a:p>
          <a:p>
            <a:pPr fontAlgn="ctr">
              <a:lnSpc>
                <a:spcPts val="1901"/>
              </a:lnSpc>
            </a:pPr>
            <a:r>
              <a:rPr lang="en-US" sz="200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8 SNP berfungsi sebagai kerangka pengelompokan program, bukan sebagai 8 program prioritas.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1" y="1333369"/>
            <a:ext cx="10820400" cy="54864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5EFE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611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H="1" flipV="1">
            <a:off x="0" y="249049"/>
            <a:ext cx="5472375" cy="0"/>
          </a:xfrm>
          <a:prstGeom prst="line">
            <a:avLst/>
          </a:prstGeom>
          <a:ln w="190500" cap="flat">
            <a:solidFill>
              <a:srgbClr val="567C8D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flipH="1">
            <a:off x="-476673" y="3198411"/>
            <a:ext cx="7143804" cy="4533069"/>
          </a:xfrm>
          <a:custGeom>
            <a:avLst/>
            <a:gdLst/>
            <a:ahLst/>
            <a:cxnLst/>
            <a:rect l="l" t="t" r="r" b="b"/>
            <a:pathLst>
              <a:path w="10715706" h="6799603">
                <a:moveTo>
                  <a:pt x="10715706" y="0"/>
                </a:moveTo>
                <a:lnTo>
                  <a:pt x="0" y="0"/>
                </a:lnTo>
                <a:lnTo>
                  <a:pt x="0" y="6799603"/>
                </a:lnTo>
                <a:lnTo>
                  <a:pt x="10715706" y="6799603"/>
                </a:lnTo>
                <a:lnTo>
                  <a:pt x="107157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H="1" flipV="1">
            <a:off x="6033825" y="6159500"/>
            <a:ext cx="5472375" cy="0"/>
          </a:xfrm>
          <a:prstGeom prst="line">
            <a:avLst/>
          </a:prstGeom>
          <a:ln w="190500" cap="flat">
            <a:solidFill>
              <a:srgbClr val="567C8D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218779" y="885531"/>
            <a:ext cx="3436811" cy="2743200"/>
          </a:xfrm>
          <a:custGeom>
            <a:avLst/>
            <a:gdLst/>
            <a:ahLst/>
            <a:cxnLst/>
            <a:rect l="l" t="t" r="r" b="b"/>
            <a:pathLst>
              <a:path w="5155216" h="4114800">
                <a:moveTo>
                  <a:pt x="0" y="0"/>
                </a:moveTo>
                <a:lnTo>
                  <a:pt x="5155216" y="0"/>
                </a:lnTo>
                <a:lnTo>
                  <a:pt x="51552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750561" y="1873798"/>
            <a:ext cx="7699335" cy="4733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ct val="200000"/>
              </a:lnSpc>
            </a:pPr>
            <a:r>
              <a:rPr lang="en-US" sz="4000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A. </a:t>
            </a:r>
            <a:r>
              <a:rPr lang="en-US" sz="4000" dirty="0" err="1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Latar</a:t>
            </a:r>
            <a:r>
              <a:rPr lang="en-US" sz="4000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4000" dirty="0" err="1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Belakang</a:t>
            </a:r>
            <a:endParaRPr lang="en-US" sz="4000" dirty="0">
              <a:solidFill>
                <a:srgbClr val="34343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defTabSz="609630">
              <a:lnSpc>
                <a:spcPct val="200000"/>
              </a:lnSpc>
            </a:pPr>
            <a:r>
              <a:rPr lang="en-US" sz="4000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B. </a:t>
            </a:r>
            <a:r>
              <a:rPr lang="en-US" sz="4000" dirty="0" err="1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Landasan</a:t>
            </a:r>
            <a:r>
              <a:rPr lang="en-US" sz="4000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Hukum</a:t>
            </a:r>
          </a:p>
          <a:p>
            <a:pPr defTabSz="609630">
              <a:lnSpc>
                <a:spcPct val="200000"/>
              </a:lnSpc>
            </a:pPr>
            <a:r>
              <a:rPr lang="en-US" sz="4000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C. </a:t>
            </a:r>
            <a:r>
              <a:rPr lang="en-US" sz="4000" dirty="0" err="1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Tujuan</a:t>
            </a:r>
            <a:r>
              <a:rPr lang="en-US" sz="4000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RKT</a:t>
            </a:r>
          </a:p>
          <a:p>
            <a:pPr defTabSz="609630">
              <a:lnSpc>
                <a:spcPct val="200000"/>
              </a:lnSpc>
            </a:pPr>
            <a:endParaRPr lang="en-US" sz="4000" dirty="0">
              <a:solidFill>
                <a:srgbClr val="34343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88374" y="1428795"/>
            <a:ext cx="8215251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175"/>
              </a:lnSpc>
            </a:pPr>
            <a:r>
              <a:rPr lang="en-US" sz="4175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BAB I PENDAHULUAN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F12B1-6DE9-48D2-9011-E9331E96FF3E}"/>
              </a:ext>
            </a:extLst>
          </p:cNvPr>
          <p:cNvSpPr txBox="1"/>
          <p:nvPr/>
        </p:nvSpPr>
        <p:spPr>
          <a:xfrm>
            <a:off x="-1012397" y="605094"/>
            <a:ext cx="8215251" cy="545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175"/>
              </a:lnSpc>
            </a:pPr>
            <a:r>
              <a:rPr lang="id-ID" sz="4175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SISTEMATIKA RKT</a:t>
            </a:r>
            <a:endParaRPr lang="en-US" sz="4175" dirty="0">
              <a:solidFill>
                <a:srgbClr val="34343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1626211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8598690" y="4430161"/>
            <a:ext cx="3412226" cy="4124669"/>
          </a:xfrm>
          <a:custGeom>
            <a:avLst/>
            <a:gdLst/>
            <a:ahLst/>
            <a:cxnLst/>
            <a:rect l="l" t="t" r="r" b="b"/>
            <a:pathLst>
              <a:path w="5118339" h="6187003">
                <a:moveTo>
                  <a:pt x="0" y="0"/>
                </a:moveTo>
                <a:lnTo>
                  <a:pt x="5118338" y="0"/>
                </a:lnTo>
                <a:lnTo>
                  <a:pt x="5118338" y="6187003"/>
                </a:lnTo>
                <a:lnTo>
                  <a:pt x="0" y="6187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453100" y="-1247147"/>
            <a:ext cx="3112482" cy="2852165"/>
          </a:xfrm>
          <a:custGeom>
            <a:avLst/>
            <a:gdLst/>
            <a:ahLst/>
            <a:cxnLst/>
            <a:rect l="l" t="t" r="r" b="b"/>
            <a:pathLst>
              <a:path w="4668723" h="4278248">
                <a:moveTo>
                  <a:pt x="4668724" y="0"/>
                </a:moveTo>
                <a:lnTo>
                  <a:pt x="0" y="0"/>
                </a:lnTo>
                <a:lnTo>
                  <a:pt x="0" y="4278248"/>
                </a:lnTo>
                <a:lnTo>
                  <a:pt x="4668724" y="4278248"/>
                </a:lnTo>
                <a:lnTo>
                  <a:pt x="4668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V="1">
            <a:off x="11502231" y="-547821"/>
            <a:ext cx="0" cy="5472375"/>
          </a:xfrm>
          <a:prstGeom prst="line">
            <a:avLst/>
          </a:prstGeom>
          <a:ln w="190500" cap="flat">
            <a:solidFill>
              <a:srgbClr val="2F4156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692041" y="1868528"/>
            <a:ext cx="0" cy="5472375"/>
          </a:xfrm>
          <a:prstGeom prst="line">
            <a:avLst/>
          </a:prstGeom>
          <a:ln w="190500" cap="flat">
            <a:solidFill>
              <a:srgbClr val="2F4156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3276769" y="-455993"/>
            <a:ext cx="4876800" cy="911986"/>
          </a:xfrm>
          <a:custGeom>
            <a:avLst/>
            <a:gdLst/>
            <a:ahLst/>
            <a:cxnLst/>
            <a:rect l="l" t="t" r="r" b="b"/>
            <a:pathLst>
              <a:path w="7315200" h="1367979">
                <a:moveTo>
                  <a:pt x="0" y="0"/>
                </a:moveTo>
                <a:lnTo>
                  <a:pt x="7315200" y="0"/>
                </a:lnTo>
                <a:lnTo>
                  <a:pt x="7315200" y="1367980"/>
                </a:lnTo>
                <a:lnTo>
                  <a:pt x="0" y="1367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50918" y="2570708"/>
            <a:ext cx="8737819" cy="272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4815" indent="-304815" algn="just" defTabSz="609630">
              <a:lnSpc>
                <a:spcPts val="1867"/>
              </a:lnSpc>
              <a:spcBef>
                <a:spcPts val="2000"/>
              </a:spcBef>
              <a:spcAft>
                <a:spcPts val="800"/>
              </a:spcAft>
              <a:buFontTx/>
              <a:buAutoNum type="alphaUcPeriod"/>
            </a:pPr>
            <a:r>
              <a:rPr lang="id-ID" sz="40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Visi, Misi, dan Tujuan Sekolah</a:t>
            </a:r>
          </a:p>
          <a:p>
            <a:pPr marL="304815" indent="-304815" algn="just" defTabSz="609630">
              <a:lnSpc>
                <a:spcPts val="1867"/>
              </a:lnSpc>
              <a:spcBef>
                <a:spcPts val="2000"/>
              </a:spcBef>
              <a:spcAft>
                <a:spcPts val="800"/>
              </a:spcAft>
              <a:buFontTx/>
              <a:buAutoNum type="alphaUcPeriod"/>
            </a:pPr>
            <a:r>
              <a:rPr lang="id-ID" sz="40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Data Tendik dan Murid</a:t>
            </a:r>
            <a:endParaRPr lang="en-US" sz="40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04815" indent="-304815" algn="just" defTabSz="609630">
              <a:lnSpc>
                <a:spcPts val="1867"/>
              </a:lnSpc>
              <a:spcBef>
                <a:spcPts val="2000"/>
              </a:spcBef>
              <a:spcAft>
                <a:spcPts val="800"/>
              </a:spcAft>
              <a:buFontTx/>
              <a:buAutoNum type="alphaUcPeriod"/>
            </a:pPr>
            <a:r>
              <a:rPr lang="id-ID" sz="40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Perkiraan Dana BOS</a:t>
            </a:r>
            <a:endParaRPr lang="en-US" sz="40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04815" indent="-304815" algn="just" defTabSz="609630">
              <a:lnSpc>
                <a:spcPts val="1867"/>
              </a:lnSpc>
              <a:spcBef>
                <a:spcPts val="2000"/>
              </a:spcBef>
              <a:spcAft>
                <a:spcPts val="800"/>
              </a:spcAft>
              <a:buFontTx/>
              <a:buAutoNum type="alphaUcPeriod"/>
            </a:pPr>
            <a:r>
              <a:rPr lang="id-ID" sz="40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Sarana dan Prasarana</a:t>
            </a:r>
            <a:endParaRPr lang="en-US" sz="40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just" defTabSz="609630">
              <a:lnSpc>
                <a:spcPts val="1867"/>
              </a:lnSpc>
              <a:spcBef>
                <a:spcPts val="2000"/>
              </a:spcBef>
              <a:spcAft>
                <a:spcPts val="800"/>
              </a:spcAft>
            </a:pPr>
            <a:endParaRPr lang="en-US" sz="40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0369" y="1070321"/>
            <a:ext cx="9855198" cy="489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162"/>
              </a:lnSpc>
            </a:pPr>
            <a:r>
              <a:rPr lang="en-US" sz="2933" b="1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BAB II </a:t>
            </a:r>
            <a:r>
              <a:rPr lang="id-ID" sz="2933" b="1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PROFIL SEKOLAH</a:t>
            </a:r>
            <a:endParaRPr lang="en-US" sz="2933" b="1" dirty="0">
              <a:solidFill>
                <a:srgbClr val="34343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3779568" y="6402007"/>
            <a:ext cx="4876800" cy="911986"/>
          </a:xfrm>
          <a:custGeom>
            <a:avLst/>
            <a:gdLst/>
            <a:ahLst/>
            <a:cxnLst/>
            <a:rect l="l" t="t" r="r" b="b"/>
            <a:pathLst>
              <a:path w="7315200" h="1367979">
                <a:moveTo>
                  <a:pt x="0" y="0"/>
                </a:moveTo>
                <a:lnTo>
                  <a:pt x="7315200" y="0"/>
                </a:lnTo>
                <a:lnTo>
                  <a:pt x="7315200" y="1367980"/>
                </a:lnTo>
                <a:lnTo>
                  <a:pt x="0" y="1367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800729" y="885421"/>
            <a:ext cx="5143837" cy="4797797"/>
          </a:xfrm>
          <a:custGeom>
            <a:avLst/>
            <a:gdLst/>
            <a:ahLst/>
            <a:cxnLst/>
            <a:rect l="l" t="t" r="r" b="b"/>
            <a:pathLst>
              <a:path w="7715755" h="7196695">
                <a:moveTo>
                  <a:pt x="7715755" y="0"/>
                </a:moveTo>
                <a:lnTo>
                  <a:pt x="0" y="0"/>
                </a:lnTo>
                <a:lnTo>
                  <a:pt x="0" y="7196695"/>
                </a:lnTo>
                <a:lnTo>
                  <a:pt x="7715755" y="7196695"/>
                </a:lnTo>
                <a:lnTo>
                  <a:pt x="771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57419" y="5173865"/>
            <a:ext cx="4467543" cy="1389000"/>
          </a:xfrm>
          <a:custGeom>
            <a:avLst/>
            <a:gdLst/>
            <a:ahLst/>
            <a:cxnLst/>
            <a:rect l="l" t="t" r="r" b="b"/>
            <a:pathLst>
              <a:path w="6701315" h="2083500">
                <a:moveTo>
                  <a:pt x="0" y="0"/>
                </a:moveTo>
                <a:lnTo>
                  <a:pt x="6701315" y="0"/>
                </a:lnTo>
                <a:lnTo>
                  <a:pt x="6701315" y="2083499"/>
                </a:lnTo>
                <a:lnTo>
                  <a:pt x="0" y="2083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69335" y="950394"/>
            <a:ext cx="4874491" cy="4688373"/>
          </a:xfrm>
          <a:custGeom>
            <a:avLst/>
            <a:gdLst/>
            <a:ahLst/>
            <a:cxnLst/>
            <a:rect l="l" t="t" r="r" b="b"/>
            <a:pathLst>
              <a:path w="7311736" h="7032560">
                <a:moveTo>
                  <a:pt x="0" y="0"/>
                </a:moveTo>
                <a:lnTo>
                  <a:pt x="7311735" y="0"/>
                </a:lnTo>
                <a:lnTo>
                  <a:pt x="7311735" y="7032561"/>
                </a:lnTo>
                <a:lnTo>
                  <a:pt x="0" y="7032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6719045" y="-342684"/>
            <a:ext cx="5710611" cy="2367308"/>
          </a:xfrm>
          <a:custGeom>
            <a:avLst/>
            <a:gdLst/>
            <a:ahLst/>
            <a:cxnLst/>
            <a:rect l="l" t="t" r="r" b="b"/>
            <a:pathLst>
              <a:path w="8565917" h="3550962">
                <a:moveTo>
                  <a:pt x="0" y="0"/>
                </a:moveTo>
                <a:lnTo>
                  <a:pt x="8565917" y="0"/>
                </a:lnTo>
                <a:lnTo>
                  <a:pt x="8565917" y="3550963"/>
                </a:lnTo>
                <a:lnTo>
                  <a:pt x="0" y="35509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01968" y="1367924"/>
            <a:ext cx="8205815" cy="545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440"/>
              </a:lnSpc>
            </a:pPr>
            <a:r>
              <a:rPr lang="en-US" sz="3600" b="1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BAB III </a:t>
            </a:r>
            <a:r>
              <a:rPr lang="id-ID" sz="3600" b="1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EVALUASI DIRI SEKOLAH</a:t>
            </a:r>
            <a:endParaRPr lang="en-US" sz="3600" b="1" dirty="0">
              <a:solidFill>
                <a:srgbClr val="34343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52232" y="2843536"/>
            <a:ext cx="10154568" cy="2242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15" indent="-304815" algn="just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Evaluasi Diri Sekolah Internal</a:t>
            </a:r>
            <a:endParaRPr lang="en-US" sz="32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04815" indent="-304815" algn="just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Analisis Laporan Raport Pendidikan</a:t>
            </a:r>
            <a:endParaRPr lang="en-US" sz="32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04815" indent="-304815" algn="just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Evaluasi RKT Tahun Lalu</a:t>
            </a:r>
            <a:endParaRPr lang="en-US" sz="32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04815" indent="-304815" algn="just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Analisis Priorotas rekomendasi</a:t>
            </a:r>
            <a:endParaRPr lang="en-US" sz="32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00975">
            <a:off x="-938991" y="-828340"/>
            <a:ext cx="4250155" cy="3631950"/>
          </a:xfrm>
          <a:custGeom>
            <a:avLst/>
            <a:gdLst/>
            <a:ahLst/>
            <a:cxnLst/>
            <a:rect l="l" t="t" r="r" b="b"/>
            <a:pathLst>
              <a:path w="6375232" h="5447925">
                <a:moveTo>
                  <a:pt x="0" y="0"/>
                </a:moveTo>
                <a:lnTo>
                  <a:pt x="6375231" y="0"/>
                </a:lnTo>
                <a:lnTo>
                  <a:pt x="6375231" y="5447925"/>
                </a:lnTo>
                <a:lnTo>
                  <a:pt x="0" y="5447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89902" flipH="1" flipV="1">
            <a:off x="8477824" y="4611765"/>
            <a:ext cx="3287059" cy="2743200"/>
          </a:xfrm>
          <a:custGeom>
            <a:avLst/>
            <a:gdLst/>
            <a:ahLst/>
            <a:cxnLst/>
            <a:rect l="l" t="t" r="r" b="b"/>
            <a:pathLst>
              <a:path w="4930588" h="4114800">
                <a:moveTo>
                  <a:pt x="493058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930588" y="0"/>
                </a:lnTo>
                <a:lnTo>
                  <a:pt x="493058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62435">
            <a:off x="1983164" y="-538713"/>
            <a:ext cx="2236226" cy="1536897"/>
          </a:xfrm>
          <a:custGeom>
            <a:avLst/>
            <a:gdLst/>
            <a:ahLst/>
            <a:cxnLst/>
            <a:rect l="l" t="t" r="r" b="b"/>
            <a:pathLst>
              <a:path w="3354339" h="2305345">
                <a:moveTo>
                  <a:pt x="0" y="0"/>
                </a:moveTo>
                <a:lnTo>
                  <a:pt x="3354339" y="0"/>
                </a:lnTo>
                <a:lnTo>
                  <a:pt x="3354339" y="2305346"/>
                </a:lnTo>
                <a:lnTo>
                  <a:pt x="0" y="2305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700000" flipH="1">
            <a:off x="10962814" y="4056773"/>
            <a:ext cx="1577009" cy="2110353"/>
          </a:xfrm>
          <a:custGeom>
            <a:avLst/>
            <a:gdLst/>
            <a:ahLst/>
            <a:cxnLst/>
            <a:rect l="l" t="t" r="r" b="b"/>
            <a:pathLst>
              <a:path w="2365514" h="3165530">
                <a:moveTo>
                  <a:pt x="2365514" y="0"/>
                </a:moveTo>
                <a:lnTo>
                  <a:pt x="0" y="0"/>
                </a:lnTo>
                <a:lnTo>
                  <a:pt x="0" y="3165530"/>
                </a:lnTo>
                <a:lnTo>
                  <a:pt x="2365514" y="3165530"/>
                </a:lnTo>
                <a:lnTo>
                  <a:pt x="236551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37297" y="2644165"/>
            <a:ext cx="8050707" cy="290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4815" indent="-304815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Target Capaian Kinerja 2027</a:t>
            </a:r>
            <a:endParaRPr lang="en-US" sz="32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04815" indent="-304815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Rencana Kegiatan (RKT PBD)</a:t>
            </a:r>
          </a:p>
          <a:p>
            <a:pPr marL="304815" indent="-304815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Rencana Kerja ARKAS PBD</a:t>
            </a:r>
          </a:p>
          <a:p>
            <a:pPr marL="304815" indent="-304815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Rencana Kerja Tahunan 8 SNP</a:t>
            </a:r>
          </a:p>
          <a:p>
            <a:pPr marL="304815" indent="-304815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Program Kerja Strategis dan Jadwal</a:t>
            </a:r>
            <a:endParaRPr lang="en-US" sz="32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" name="Freeform 7"/>
          <p:cNvSpPr/>
          <p:nvPr/>
        </p:nvSpPr>
        <p:spPr>
          <a:xfrm rot="-5400000">
            <a:off x="-1642074" y="3668776"/>
            <a:ext cx="4876800" cy="130048"/>
          </a:xfrm>
          <a:custGeom>
            <a:avLst/>
            <a:gdLst/>
            <a:ahLst/>
            <a:cxnLst/>
            <a:rect l="l" t="t" r="r" b="b"/>
            <a:pathLst>
              <a:path w="7315200" h="195072">
                <a:moveTo>
                  <a:pt x="0" y="0"/>
                </a:moveTo>
                <a:lnTo>
                  <a:pt x="7315200" y="0"/>
                </a:lnTo>
                <a:lnTo>
                  <a:pt x="73152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" y="1366173"/>
            <a:ext cx="10989732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440"/>
              </a:lnSpc>
            </a:pPr>
            <a:r>
              <a:rPr lang="en-US" sz="4000" b="1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BAB IV </a:t>
            </a:r>
            <a:r>
              <a:rPr lang="id-ID" sz="4000" b="1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RENCANA KERJA TAHUNAN (RKT)</a:t>
            </a:r>
            <a:endParaRPr lang="en-US" sz="4000" b="1" dirty="0">
              <a:solidFill>
                <a:srgbClr val="34343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657600" y="536914"/>
            <a:ext cx="4876800" cy="130048"/>
          </a:xfrm>
          <a:custGeom>
            <a:avLst/>
            <a:gdLst/>
            <a:ahLst/>
            <a:cxnLst/>
            <a:rect l="l" t="t" r="r" b="b"/>
            <a:pathLst>
              <a:path w="7315200" h="195072">
                <a:moveTo>
                  <a:pt x="0" y="0"/>
                </a:moveTo>
                <a:lnTo>
                  <a:pt x="7315200" y="0"/>
                </a:lnTo>
                <a:lnTo>
                  <a:pt x="73152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15524" y="6212406"/>
            <a:ext cx="4876800" cy="130048"/>
          </a:xfrm>
          <a:custGeom>
            <a:avLst/>
            <a:gdLst/>
            <a:ahLst/>
            <a:cxnLst/>
            <a:rect l="l" t="t" r="r" b="b"/>
            <a:pathLst>
              <a:path w="7315200" h="195072">
                <a:moveTo>
                  <a:pt x="0" y="0"/>
                </a:moveTo>
                <a:lnTo>
                  <a:pt x="7315200" y="0"/>
                </a:lnTo>
                <a:lnTo>
                  <a:pt x="73152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00975">
            <a:off x="-938991" y="-828340"/>
            <a:ext cx="4250155" cy="3631950"/>
          </a:xfrm>
          <a:custGeom>
            <a:avLst/>
            <a:gdLst/>
            <a:ahLst/>
            <a:cxnLst/>
            <a:rect l="l" t="t" r="r" b="b"/>
            <a:pathLst>
              <a:path w="6375232" h="5447925">
                <a:moveTo>
                  <a:pt x="0" y="0"/>
                </a:moveTo>
                <a:lnTo>
                  <a:pt x="6375231" y="0"/>
                </a:lnTo>
                <a:lnTo>
                  <a:pt x="6375231" y="5447925"/>
                </a:lnTo>
                <a:lnTo>
                  <a:pt x="0" y="5447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89902" flipH="1" flipV="1">
            <a:off x="8477824" y="4611765"/>
            <a:ext cx="3287059" cy="2743200"/>
          </a:xfrm>
          <a:custGeom>
            <a:avLst/>
            <a:gdLst/>
            <a:ahLst/>
            <a:cxnLst/>
            <a:rect l="l" t="t" r="r" b="b"/>
            <a:pathLst>
              <a:path w="4930588" h="4114800">
                <a:moveTo>
                  <a:pt x="493058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930588" y="0"/>
                </a:lnTo>
                <a:lnTo>
                  <a:pt x="493058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62435">
            <a:off x="1983164" y="-538713"/>
            <a:ext cx="2236226" cy="1536897"/>
          </a:xfrm>
          <a:custGeom>
            <a:avLst/>
            <a:gdLst/>
            <a:ahLst/>
            <a:cxnLst/>
            <a:rect l="l" t="t" r="r" b="b"/>
            <a:pathLst>
              <a:path w="3354339" h="2305345">
                <a:moveTo>
                  <a:pt x="0" y="0"/>
                </a:moveTo>
                <a:lnTo>
                  <a:pt x="3354339" y="0"/>
                </a:lnTo>
                <a:lnTo>
                  <a:pt x="3354339" y="2305346"/>
                </a:lnTo>
                <a:lnTo>
                  <a:pt x="0" y="2305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700000" flipH="1">
            <a:off x="10962814" y="4056773"/>
            <a:ext cx="1577009" cy="2110353"/>
          </a:xfrm>
          <a:custGeom>
            <a:avLst/>
            <a:gdLst/>
            <a:ahLst/>
            <a:cxnLst/>
            <a:rect l="l" t="t" r="r" b="b"/>
            <a:pathLst>
              <a:path w="2365514" h="3165530">
                <a:moveTo>
                  <a:pt x="2365514" y="0"/>
                </a:moveTo>
                <a:lnTo>
                  <a:pt x="0" y="0"/>
                </a:lnTo>
                <a:lnTo>
                  <a:pt x="0" y="3165530"/>
                </a:lnTo>
                <a:lnTo>
                  <a:pt x="2365514" y="3165530"/>
                </a:lnTo>
                <a:lnTo>
                  <a:pt x="236551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70647" y="2748199"/>
            <a:ext cx="8050707" cy="159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4815" indent="-304815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Simpulan</a:t>
            </a:r>
            <a:endParaRPr lang="en-US" sz="32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04815" indent="-304815"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  <a:buFontTx/>
              <a:buAutoNum type="alphaUcPeriod"/>
            </a:pPr>
            <a:r>
              <a:rPr lang="id-ID" sz="3200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Saran</a:t>
            </a:r>
          </a:p>
          <a:p>
            <a:pPr defTabSz="609630">
              <a:lnSpc>
                <a:spcPts val="1867"/>
              </a:lnSpc>
              <a:spcBef>
                <a:spcPts val="2400"/>
              </a:spcBef>
              <a:spcAft>
                <a:spcPts val="800"/>
              </a:spcAft>
            </a:pPr>
            <a:endParaRPr lang="en-US" sz="3200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" name="Freeform 7"/>
          <p:cNvSpPr/>
          <p:nvPr/>
        </p:nvSpPr>
        <p:spPr>
          <a:xfrm rot="-5400000">
            <a:off x="-1642074" y="3668776"/>
            <a:ext cx="4876800" cy="130048"/>
          </a:xfrm>
          <a:custGeom>
            <a:avLst/>
            <a:gdLst/>
            <a:ahLst/>
            <a:cxnLst/>
            <a:rect l="l" t="t" r="r" b="b"/>
            <a:pathLst>
              <a:path w="7315200" h="195072">
                <a:moveTo>
                  <a:pt x="0" y="0"/>
                </a:moveTo>
                <a:lnTo>
                  <a:pt x="7315200" y="0"/>
                </a:lnTo>
                <a:lnTo>
                  <a:pt x="73152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" y="1366173"/>
            <a:ext cx="10989732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440"/>
              </a:lnSpc>
            </a:pPr>
            <a:r>
              <a:rPr lang="en-US" sz="4000" b="1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BAB V </a:t>
            </a:r>
            <a:r>
              <a:rPr lang="id-ID" sz="4000" b="1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PENUTUP</a:t>
            </a:r>
            <a:endParaRPr lang="en-US" sz="4000" b="1" dirty="0">
              <a:solidFill>
                <a:srgbClr val="34343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657600" y="536914"/>
            <a:ext cx="4876800" cy="130048"/>
          </a:xfrm>
          <a:custGeom>
            <a:avLst/>
            <a:gdLst/>
            <a:ahLst/>
            <a:cxnLst/>
            <a:rect l="l" t="t" r="r" b="b"/>
            <a:pathLst>
              <a:path w="7315200" h="195072">
                <a:moveTo>
                  <a:pt x="0" y="0"/>
                </a:moveTo>
                <a:lnTo>
                  <a:pt x="7315200" y="0"/>
                </a:lnTo>
                <a:lnTo>
                  <a:pt x="73152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15524" y="6212406"/>
            <a:ext cx="4876800" cy="130048"/>
          </a:xfrm>
          <a:custGeom>
            <a:avLst/>
            <a:gdLst/>
            <a:ahLst/>
            <a:cxnLst/>
            <a:rect l="l" t="t" r="r" b="b"/>
            <a:pathLst>
              <a:path w="7315200" h="195072">
                <a:moveTo>
                  <a:pt x="0" y="0"/>
                </a:moveTo>
                <a:lnTo>
                  <a:pt x="7315200" y="0"/>
                </a:lnTo>
                <a:lnTo>
                  <a:pt x="73152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36204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5328" y="206923"/>
            <a:ext cx="3283869" cy="622307"/>
          </a:xfrm>
          <a:custGeom>
            <a:avLst/>
            <a:gdLst/>
            <a:ahLst/>
            <a:cxnLst/>
            <a:rect l="l" t="t" r="r" b="b"/>
            <a:pathLst>
              <a:path w="4925803" h="933461">
                <a:moveTo>
                  <a:pt x="0" y="0"/>
                </a:moveTo>
                <a:lnTo>
                  <a:pt x="4925803" y="0"/>
                </a:lnTo>
                <a:lnTo>
                  <a:pt x="4925803" y="933461"/>
                </a:lnTo>
                <a:lnTo>
                  <a:pt x="0" y="933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93783" y="1926965"/>
            <a:ext cx="4108448" cy="2046754"/>
          </a:xfrm>
          <a:custGeom>
            <a:avLst/>
            <a:gdLst/>
            <a:ahLst/>
            <a:cxnLst/>
            <a:rect l="l" t="t" r="r" b="b"/>
            <a:pathLst>
              <a:path w="6162672" h="3070131">
                <a:moveTo>
                  <a:pt x="0" y="0"/>
                </a:moveTo>
                <a:lnTo>
                  <a:pt x="6162672" y="0"/>
                </a:lnTo>
                <a:lnTo>
                  <a:pt x="6162672" y="3070132"/>
                </a:lnTo>
                <a:lnTo>
                  <a:pt x="0" y="3070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93783" y="4155334"/>
            <a:ext cx="4108448" cy="2046754"/>
          </a:xfrm>
          <a:custGeom>
            <a:avLst/>
            <a:gdLst/>
            <a:ahLst/>
            <a:cxnLst/>
            <a:rect l="l" t="t" r="r" b="b"/>
            <a:pathLst>
              <a:path w="6162672" h="3070131">
                <a:moveTo>
                  <a:pt x="0" y="0"/>
                </a:moveTo>
                <a:lnTo>
                  <a:pt x="6162672" y="0"/>
                </a:lnTo>
                <a:lnTo>
                  <a:pt x="6162672" y="3070131"/>
                </a:lnTo>
                <a:lnTo>
                  <a:pt x="0" y="3070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685800" y="1926965"/>
            <a:ext cx="4108448" cy="2046754"/>
          </a:xfrm>
          <a:custGeom>
            <a:avLst/>
            <a:gdLst/>
            <a:ahLst/>
            <a:cxnLst/>
            <a:rect l="l" t="t" r="r" b="b"/>
            <a:pathLst>
              <a:path w="6162672" h="3070131">
                <a:moveTo>
                  <a:pt x="6162672" y="0"/>
                </a:moveTo>
                <a:lnTo>
                  <a:pt x="0" y="0"/>
                </a:lnTo>
                <a:lnTo>
                  <a:pt x="0" y="3070132"/>
                </a:lnTo>
                <a:lnTo>
                  <a:pt x="6162672" y="3070132"/>
                </a:lnTo>
                <a:lnTo>
                  <a:pt x="616267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685800" y="4155334"/>
            <a:ext cx="4108448" cy="2046754"/>
          </a:xfrm>
          <a:custGeom>
            <a:avLst/>
            <a:gdLst/>
            <a:ahLst/>
            <a:cxnLst/>
            <a:rect l="l" t="t" r="r" b="b"/>
            <a:pathLst>
              <a:path w="6162672" h="3070131">
                <a:moveTo>
                  <a:pt x="6162672" y="0"/>
                </a:moveTo>
                <a:lnTo>
                  <a:pt x="0" y="0"/>
                </a:lnTo>
                <a:lnTo>
                  <a:pt x="0" y="3070131"/>
                </a:lnTo>
                <a:lnTo>
                  <a:pt x="6162672" y="3070131"/>
                </a:lnTo>
                <a:lnTo>
                  <a:pt x="616267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85202" y="154123"/>
            <a:ext cx="1710601" cy="1499108"/>
          </a:xfrm>
          <a:custGeom>
            <a:avLst/>
            <a:gdLst/>
            <a:ahLst/>
            <a:cxnLst/>
            <a:rect l="l" t="t" r="r" b="b"/>
            <a:pathLst>
              <a:path w="2565901" h="2248662">
                <a:moveTo>
                  <a:pt x="0" y="0"/>
                </a:moveTo>
                <a:lnTo>
                  <a:pt x="2565901" y="0"/>
                </a:lnTo>
                <a:lnTo>
                  <a:pt x="2565901" y="2248662"/>
                </a:lnTo>
                <a:lnTo>
                  <a:pt x="0" y="22486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-594645" y="5178711"/>
            <a:ext cx="1710601" cy="1499108"/>
          </a:xfrm>
          <a:custGeom>
            <a:avLst/>
            <a:gdLst/>
            <a:ahLst/>
            <a:cxnLst/>
            <a:rect l="l" t="t" r="r" b="b"/>
            <a:pathLst>
              <a:path w="2565901" h="2248662">
                <a:moveTo>
                  <a:pt x="0" y="2248663"/>
                </a:moveTo>
                <a:lnTo>
                  <a:pt x="2565901" y="2248663"/>
                </a:lnTo>
                <a:lnTo>
                  <a:pt x="2565901" y="0"/>
                </a:lnTo>
                <a:lnTo>
                  <a:pt x="0" y="0"/>
                </a:lnTo>
                <a:lnTo>
                  <a:pt x="0" y="22486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794249" y="2403411"/>
            <a:ext cx="1212548" cy="546932"/>
          </a:xfrm>
          <a:custGeom>
            <a:avLst/>
            <a:gdLst/>
            <a:ahLst/>
            <a:cxnLst/>
            <a:rect l="l" t="t" r="r" b="b"/>
            <a:pathLst>
              <a:path w="1818822" h="820398">
                <a:moveTo>
                  <a:pt x="0" y="820397"/>
                </a:moveTo>
                <a:lnTo>
                  <a:pt x="1590222" y="820397"/>
                </a:lnTo>
                <a:cubicBezTo>
                  <a:pt x="1716474" y="820397"/>
                  <a:pt x="1818822" y="718050"/>
                  <a:pt x="1818822" y="591797"/>
                </a:cubicBezTo>
                <a:lnTo>
                  <a:pt x="1818822" y="0"/>
                </a:lnTo>
              </a:path>
            </a:pathLst>
          </a:custGeom>
          <a:ln w="66675" cap="flat">
            <a:solidFill>
              <a:srgbClr val="567C8D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6167446" y="2950343"/>
            <a:ext cx="1280290" cy="290139"/>
          </a:xfrm>
          <a:custGeom>
            <a:avLst/>
            <a:gdLst/>
            <a:ahLst/>
            <a:cxnLst/>
            <a:rect l="l" t="t" r="r" b="b"/>
            <a:pathLst>
              <a:path w="1920435" h="435209">
                <a:moveTo>
                  <a:pt x="0" y="435210"/>
                </a:moveTo>
                <a:lnTo>
                  <a:pt x="742612" y="435210"/>
                </a:lnTo>
                <a:cubicBezTo>
                  <a:pt x="862792" y="435210"/>
                  <a:pt x="960217" y="337785"/>
                  <a:pt x="960217" y="217605"/>
                </a:cubicBezTo>
                <a:lnTo>
                  <a:pt x="960217" y="217605"/>
                </a:lnTo>
                <a:cubicBezTo>
                  <a:pt x="960217" y="97425"/>
                  <a:pt x="1057642" y="0"/>
                  <a:pt x="1177822" y="0"/>
                </a:cubicBezTo>
                <a:lnTo>
                  <a:pt x="1920434" y="0"/>
                </a:lnTo>
              </a:path>
            </a:pathLst>
          </a:custGeom>
          <a:ln w="66675" cap="flat">
            <a:solidFill>
              <a:srgbClr val="567C8D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" name="Freeform 11"/>
          <p:cNvSpPr/>
          <p:nvPr/>
        </p:nvSpPr>
        <p:spPr>
          <a:xfrm>
            <a:off x="4772862" y="4663207"/>
            <a:ext cx="1233935" cy="518233"/>
          </a:xfrm>
          <a:custGeom>
            <a:avLst/>
            <a:gdLst/>
            <a:ahLst/>
            <a:cxnLst/>
            <a:rect l="l" t="t" r="r" b="b"/>
            <a:pathLst>
              <a:path w="1850903" h="777349">
                <a:moveTo>
                  <a:pt x="0" y="777350"/>
                </a:moveTo>
                <a:lnTo>
                  <a:pt x="1622303" y="777350"/>
                </a:lnTo>
                <a:cubicBezTo>
                  <a:pt x="1748555" y="777350"/>
                  <a:pt x="1850903" y="675002"/>
                  <a:pt x="1850903" y="548750"/>
                </a:cubicBezTo>
                <a:lnTo>
                  <a:pt x="1850903" y="0"/>
                </a:lnTo>
              </a:path>
            </a:pathLst>
          </a:custGeom>
          <a:ln w="66675" cap="flat">
            <a:solidFill>
              <a:srgbClr val="567C8D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6167446" y="5178711"/>
            <a:ext cx="1226337" cy="311588"/>
          </a:xfrm>
          <a:custGeom>
            <a:avLst/>
            <a:gdLst/>
            <a:ahLst/>
            <a:cxnLst/>
            <a:rect l="l" t="t" r="r" b="b"/>
            <a:pathLst>
              <a:path w="1839506" h="467382">
                <a:moveTo>
                  <a:pt x="0" y="467382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1839505" y="0"/>
                </a:lnTo>
              </a:path>
            </a:pathLst>
          </a:custGeom>
          <a:ln w="66675" cap="flat">
            <a:solidFill>
              <a:srgbClr val="567C8D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TextBox 13"/>
          <p:cNvSpPr txBox="1"/>
          <p:nvPr/>
        </p:nvSpPr>
        <p:spPr>
          <a:xfrm>
            <a:off x="5356630" y="2170595"/>
            <a:ext cx="1477749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</a:pPr>
            <a:r>
              <a:rPr lang="en-US" sz="1333" b="1">
                <a:solidFill>
                  <a:srgbClr val="FFFB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OBJEK SATU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56630" y="4400961"/>
            <a:ext cx="1477749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</a:pPr>
            <a:r>
              <a:rPr lang="en-US" sz="1333" b="1">
                <a:solidFill>
                  <a:srgbClr val="FFFB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OBJEK TIGA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56630" y="3248589"/>
            <a:ext cx="1477749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</a:pPr>
            <a:r>
              <a:rPr lang="en-US" sz="1333" b="1">
                <a:solidFill>
                  <a:srgbClr val="FFFB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OBJEK DUA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56630" y="5458549"/>
            <a:ext cx="1477749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</a:pPr>
            <a:r>
              <a:rPr lang="en-US" sz="1333" b="1">
                <a:solidFill>
                  <a:srgbClr val="FFFB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OBJEK EMPAT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01276" y="1080461"/>
            <a:ext cx="598944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440"/>
              </a:lnSpc>
            </a:pPr>
            <a:r>
              <a:rPr lang="en-US" sz="4000" b="1" dirty="0">
                <a:solidFill>
                  <a:srgbClr val="34343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LAMPIRAN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4702" y="2550931"/>
            <a:ext cx="4315661" cy="497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1867"/>
              </a:lnSpc>
            </a:pP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1.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Undangan</a:t>
            </a: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daftar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hadir</a:t>
            </a: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notulen</a:t>
            </a: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penyusunan</a:t>
            </a: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RKT/ARKAS 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17BEEDB9-D82B-0C7E-D757-0744ECF0E60A}"/>
              </a:ext>
            </a:extLst>
          </p:cNvPr>
          <p:cNvSpPr txBox="1"/>
          <p:nvPr/>
        </p:nvSpPr>
        <p:spPr>
          <a:xfrm>
            <a:off x="943446" y="4702980"/>
            <a:ext cx="4315661" cy="254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1867"/>
              </a:lnSpc>
            </a:pP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2.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Kaldik</a:t>
            </a: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1AB8D296-4B6A-BE5B-B133-5211F3FA816F}"/>
              </a:ext>
            </a:extLst>
          </p:cNvPr>
          <p:cNvSpPr txBox="1"/>
          <p:nvPr/>
        </p:nvSpPr>
        <p:spPr>
          <a:xfrm>
            <a:off x="7813864" y="2824922"/>
            <a:ext cx="4315661" cy="254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1867"/>
              </a:lnSpc>
            </a:pP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3. Foto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Kegiatan</a:t>
            </a:r>
            <a:endParaRPr lang="en-US" sz="2133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A834B5D2-526F-2F18-A7C1-16288A49DBD9}"/>
              </a:ext>
            </a:extLst>
          </p:cNvPr>
          <p:cNvSpPr txBox="1"/>
          <p:nvPr/>
        </p:nvSpPr>
        <p:spPr>
          <a:xfrm>
            <a:off x="7745974" y="5067848"/>
            <a:ext cx="4315661" cy="254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1867"/>
              </a:lnSpc>
            </a:pP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4.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Analisis</a:t>
            </a: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Kegiatan</a:t>
            </a: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Sekolah</a:t>
            </a:r>
            <a:endParaRPr lang="en-US" sz="2133" b="1" dirty="0">
              <a:solidFill>
                <a:srgbClr val="34343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8A08969D-36D2-23A0-A583-C48FD40D35E0}"/>
              </a:ext>
            </a:extLst>
          </p:cNvPr>
          <p:cNvSpPr txBox="1"/>
          <p:nvPr/>
        </p:nvSpPr>
        <p:spPr>
          <a:xfrm>
            <a:off x="3848966" y="6173805"/>
            <a:ext cx="4315661" cy="254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</a:pP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5. SK Tim </a:t>
            </a:r>
            <a:r>
              <a:rPr lang="en-US" sz="2133" b="1" dirty="0" err="1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Penyusun</a:t>
            </a:r>
            <a:r>
              <a:rPr lang="en-US" sz="2133" b="1" dirty="0">
                <a:solidFill>
                  <a:srgbClr val="3434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RKT/ARKAS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E39841-EFB2-F409-96D9-A5D2DE997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6" y="28073"/>
            <a:ext cx="11997563" cy="682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95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262D60-A992-46A2-B874-038704F559EF}"/>
              </a:ext>
            </a:extLst>
          </p:cNvPr>
          <p:cNvSpPr/>
          <p:nvPr/>
        </p:nvSpPr>
        <p:spPr>
          <a:xfrm>
            <a:off x="3214540" y="2543129"/>
            <a:ext cx="653277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d-ID" sz="8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Terima Kasih</a:t>
            </a:r>
            <a:endParaRPr lang="en-US" sz="88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385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9FA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671</Words>
  <Application>Microsoft Office PowerPoint</Application>
  <PresentationFormat>Widescreen</PresentationFormat>
  <Paragraphs>125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DM Mono Regular</vt:lpstr>
      <vt:lpstr>League Spartan</vt:lpstr>
      <vt:lpstr>Satoshi Black</vt:lpstr>
      <vt:lpstr>Source Sans Pro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LENOVO</cp:lastModifiedBy>
  <cp:revision>30</cp:revision>
  <dcterms:created xsi:type="dcterms:W3CDTF">2026-08-25T18:18:31Z</dcterms:created>
  <dcterms:modified xsi:type="dcterms:W3CDTF">2026-09-09T06:16:50Z</dcterms:modified>
</cp:coreProperties>
</file>